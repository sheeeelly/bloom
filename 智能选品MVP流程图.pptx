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753600" cy="6502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753600" cy="6502400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30158" y="1304862"/>
          <a:ext cx="9002394" cy="982979"/>
        </p:xfrm>
        <a:graphic>
          <a:graphicData uri="http://schemas.openxmlformats.org/drawingml/2006/table">
            <a:tbl>
              <a:tblPr/>
              <a:tblGrid>
                <a:gridCol w="1310639"/>
                <a:gridCol w="1575435"/>
                <a:gridCol w="1633855"/>
                <a:gridCol w="1645285"/>
                <a:gridCol w="1553210"/>
                <a:gridCol w="1283969"/>
              </a:tblGrid>
              <a:tr h="271779">
                <a:tc gridSpan="3">
                  <a:txBody>
                    <a:bodyPr/>
                    <a:lstStyle/>
                    <a:p>
                      <a:pPr marL="78105" algn="l" rtl="0" eaLnBrk="0">
                        <a:lnSpc>
                          <a:spcPts val="1425"/>
                        </a:lnSpc>
                      </a:pPr>
                      <a:r>
                        <a:rPr lang="zh-CN"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爬虫程序</a:t>
                      </a: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触发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 </a:t>
                      </a: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三信号采集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  </a:t>
                      </a: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标准化与可信校验</a:t>
                      </a:r>
                      <a:endParaRPr sz="11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7340" algn="l" rtl="0" eaLnBrk="0">
                        <a:lnSpc>
                          <a:spcPts val="1360"/>
                        </a:lnSpc>
                        <a:spcBef>
                          <a:spcPts val="0"/>
                        </a:spcBef>
                      </a:pPr>
                      <a:r>
                        <a:rPr sz="11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上新</a:t>
                      </a:r>
                      <a:r>
                        <a:rPr sz="11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1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列表靠前判定</a:t>
                      </a:r>
                      <a:endParaRPr sz="11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466090" algn="l" rtl="0" eaLnBrk="0">
                        <a:lnSpc>
                          <a:spcPts val="1585"/>
                        </a:lnSpc>
                      </a:pPr>
                      <a:r>
                        <a:rPr sz="1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业务筛选</a:t>
                      </a: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     </a:t>
                      </a:r>
                      <a:r>
                        <a:rPr sz="1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机会池入库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ts val="965"/>
                        </a:lnSpc>
                        <a:spcBef>
                          <a:spcPts val="5"/>
                        </a:spcBef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·配置品类与站点名单</a:t>
                      </a:r>
                      <a:endParaRPr sz="7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ts val="860"/>
                        </a:lnSpc>
                        <a:spcBef>
                          <a:spcPts val="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·设定</a:t>
                      </a:r>
                      <a:r>
                        <a:rPr lang="zh-CN"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爬虫规则</a:t>
                      </a:r>
                      <a:endParaRPr sz="7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6060" algn="l" rtl="0" eaLnBrk="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lang="zh-CN" altLang="en-US"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竞品网站</a:t>
                      </a:r>
                      <a:endParaRPr lang="zh-CN" altLang="en-US" sz="8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26060" algn="l" rtl="0" eaLnBrk="0">
                        <a:lnSpc>
                          <a:spcPts val="1070"/>
                        </a:lnSpc>
                        <a:spcBef>
                          <a:spcPts val="83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lang="en-US"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zh-CN" altLang="en-US"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社媒舆情</a:t>
                      </a:r>
                      <a:endParaRPr lang="zh-CN" altLang="en-US" sz="8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6060" algn="l" rtl="0" eaLnBrk="0">
                        <a:lnSpc>
                          <a:spcPts val="1070"/>
                        </a:lnSpc>
                        <a:spcBef>
                          <a:spcPts val="0"/>
                        </a:spcBef>
                      </a:pP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sz="800" kern="0" spc="-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en-US"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Az</a:t>
                      </a: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历史相似款销量查询。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4475" algn="l" rtl="0" eaLnBrk="0">
                        <a:lnSpc>
                          <a:spcPts val="1080"/>
                        </a:lnSpc>
                        <a:spcBef>
                          <a:spcPts val="5"/>
                        </a:spcBef>
                      </a:pPr>
                      <a:r>
                        <a:rPr sz="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sz="8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SKC</a:t>
                      </a:r>
                      <a:r>
                        <a:rPr sz="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键归一化与去重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44475" algn="l" rtl="0" eaLnBrk="0">
                        <a:lnSpc>
                          <a:spcPts val="1295"/>
                        </a:lnSpc>
                        <a:spcBef>
                          <a:spcPts val="555"/>
                        </a:spcBef>
                      </a:pP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sz="8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manifest/crawl_run</a:t>
                      </a: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校验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4475" algn="l" rtl="0" eaLnBrk="0">
                        <a:lnSpc>
                          <a:spcPts val="1060"/>
                        </a:lnSpc>
                        <a:spcBef>
                          <a:spcPts val="0"/>
                        </a:spcBef>
                      </a:pP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·拒收</a:t>
                      </a: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BD</a:t>
                      </a: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串线。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6070" algn="l" rtl="0" eaLnBrk="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·上新类型过滤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306070" algn="l" rtl="0" eaLnBrk="0">
                        <a:lnSpc>
                          <a:spcPts val="1295"/>
                        </a:lnSpc>
                        <a:spcBef>
                          <a:spcPts val="590"/>
                        </a:spcBef>
                      </a:pP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list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_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rank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排序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6070" algn="l" rtl="0" eaLnBrk="0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·sales/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rece</a:t>
                      </a: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ncy</a:t>
                      </a: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分池。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8285" algn="l" rtl="0" eaLnBrk="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sz="8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AT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类目映射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48285" algn="l" rtl="0" eaLnBrk="0">
                        <a:lnSpc>
                          <a:spcPts val="1070"/>
                        </a:lnSpc>
                        <a:spcBef>
                          <a:spcPts val="735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·排名阀值≤50可配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8285" algn="l" rtl="0" eaLnBrk="0">
                        <a:lnSpc>
                          <a:spcPts val="1080"/>
                        </a:lnSpc>
                        <a:spcBef>
                          <a:spcPts val="5"/>
                        </a:spcBef>
                      </a:pPr>
                      <a:r>
                        <a:rPr sz="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·未标定站不进默认池。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175" algn="l" rtl="0" eaLnBrk="0">
                        <a:lnSpc>
                          <a:spcPts val="1075"/>
                        </a:lnSpc>
                        <a:spcBef>
                          <a:spcPts val="5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·写入机会表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r" rtl="0" eaLnBrk="0">
                        <a:lnSpc>
                          <a:spcPts val="1295"/>
                        </a:lnSpc>
                        <a:spcBef>
                          <a:spcPts val="61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·挂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snapshot_row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证据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175" algn="l" rtl="0" eaLnBrk="0">
                        <a:lnSpc>
                          <a:spcPts val="860"/>
                        </a:lnSpc>
                        <a:spcBef>
                          <a:spcPts val="5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·可检索可生成草稿。</a:t>
                      </a:r>
                      <a:endParaRPr sz="7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box 6"/>
          <p:cNvSpPr/>
          <p:nvPr/>
        </p:nvSpPr>
        <p:spPr>
          <a:xfrm>
            <a:off x="395593" y="5077911"/>
            <a:ext cx="3013710" cy="1109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25"/>
              </a:lnSpc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产出：选款提案+指标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产出：审批结果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71295" algn="l" rtl="0" eaLnBrk="0">
              <a:lnSpc>
                <a:spcPts val="1605"/>
              </a:lnSpc>
              <a:spcBef>
                <a:spcPts val="0"/>
              </a:spcBef>
            </a:pP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处理节点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135782" y="5101756"/>
            <a:ext cx="3013710" cy="1087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300"/>
              </a:lnSpc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产出：定价+可生产结论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</a:t>
            </a: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产出：方</a:t>
            </a:r>
            <a:r>
              <a:rPr sz="10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案草稿</a:t>
            </a:r>
            <a:endParaRPr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0" algn="l" rtl="0" eaLnBrk="0">
              <a:lnSpc>
                <a:spcPct val="96000"/>
              </a:lnSpc>
              <a:spcBef>
                <a:spcPts val="5"/>
              </a:spcBef>
            </a:pPr>
            <a:r>
              <a:rPr sz="13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产出/结果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330159" y="3857511"/>
          <a:ext cx="3122295" cy="955675"/>
        </p:xfrm>
        <a:graphic>
          <a:graphicData uri="http://schemas.openxmlformats.org/drawingml/2006/table">
            <a:tbl>
              <a:tblPr/>
              <a:tblGrid>
                <a:gridCol w="1720850"/>
                <a:gridCol w="1401445"/>
              </a:tblGrid>
              <a:tr h="955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105" algn="l" rtl="0" eaLnBrk="0">
                        <a:lnSpc>
                          <a:spcPts val="1475"/>
                        </a:lnSpc>
                      </a:pPr>
                      <a:r>
                        <a:rPr sz="1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写入选款与指标回流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ts val="1295"/>
                        </a:lnSpc>
                        <a:spcBef>
                          <a:spcPts val="1015"/>
                        </a:spcBef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sz="9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同步选款提案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system_hub_at</a:t>
                      </a: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9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·成稿时长统计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·上架后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GMV</a:t>
                      </a:r>
                      <a:r>
                        <a:rPr sz="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可关联。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35305" algn="l" rtl="0" eaLnBrk="0">
                        <a:lnSpc>
                          <a:spcPts val="1475"/>
                        </a:lnSpc>
                      </a:pPr>
                      <a:r>
                        <a:rPr sz="1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负责人审批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60350" algn="l" rtl="0" eaLnBrk="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·通过/驳回必填原因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r" rtl="0" eaLnBrk="0">
                        <a:lnSpc>
                          <a:spcPts val="1070"/>
                        </a:lnSpc>
                        <a:spcBef>
                          <a:spcPts val="820"/>
                        </a:spcBef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·审批页不展示埋点文案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035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·高亮风险与库存。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146816" y="3864543"/>
          <a:ext cx="3009265" cy="948689"/>
        </p:xfrm>
        <a:graphic>
          <a:graphicData uri="http://schemas.openxmlformats.org/drawingml/2006/table">
            <a:tbl>
              <a:tblPr/>
              <a:tblGrid>
                <a:gridCol w="1501775"/>
                <a:gridCol w="1507489"/>
              </a:tblGrid>
              <a:tr h="948689">
                <a:tc>
                  <a:txBody>
                    <a:bodyPr/>
                    <a:lstStyle/>
                    <a:p>
                      <a:pPr marL="154305" algn="l" rtl="0" eaLnBrk="0">
                        <a:lnSpc>
                          <a:spcPts val="1480"/>
                        </a:lnSpc>
                      </a:pPr>
                      <a:r>
                        <a:rPr sz="12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成本与可生产性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ts val="1085"/>
                        </a:lnSpc>
                        <a:spcBef>
                          <a:spcPts val="1175"/>
                        </a:spcBef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sz="9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BOM×5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与竞品价带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ts val="1085"/>
                        </a:lnSpc>
                        <a:spcBef>
                          <a:spcPts val="865"/>
                        </a:spcBef>
                      </a:pPr>
                      <a:r>
                        <a:rPr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·库存深度代理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·标记有无成本优势。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575"/>
                        </a:lnSpc>
                      </a:pPr>
                      <a:r>
                        <a:rPr sz="1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选品方案草稿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492125" indent="-107950" algn="l" rtl="0" eaLnBrk="0">
                        <a:lnSpc>
                          <a:spcPct val="129000"/>
                        </a:lnSpc>
                        <a:spcBef>
                          <a:spcPts val="1225"/>
                        </a:spcBef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·参考款/改款点/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面料廓形颜色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417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·现货或</a:t>
                      </a: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MTO</a:t>
                      </a: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意向。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textbox 14"/>
          <p:cNvSpPr/>
          <p:nvPr/>
        </p:nvSpPr>
        <p:spPr>
          <a:xfrm>
            <a:off x="2195820" y="33109"/>
            <a:ext cx="5463540" cy="534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005"/>
              </a:lnSpc>
            </a:pP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智能选品</a:t>
            </a: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MVP|AT</a:t>
            </a:r>
            <a:r>
              <a:rPr sz="2800" b="1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品类端到端流程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4362472" y="3839431"/>
            <a:ext cx="1182369" cy="2343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0365" algn="l" rtl="0" eaLnBrk="0">
              <a:lnSpc>
                <a:spcPct val="96000"/>
              </a:lnSpc>
            </a:pP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建议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6365" indent="-112395" algn="l" rtl="0" eaLnBrk="0">
              <a:lnSpc>
                <a:spcPct val="114000"/>
              </a:lnSpc>
              <a:spcBef>
                <a:spcPts val="980"/>
              </a:spcBef>
            </a:pPr>
            <a:r>
              <a:rPr sz="9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kern="0" spc="-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四档建议推/谨慎/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000" b="1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MTO/</a:t>
            </a:r>
            <a:r>
              <a:rPr sz="10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不建议</a:t>
            </a:r>
            <a:endParaRPr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1015"/>
              </a:lnSpc>
              <a:spcBef>
                <a:spcPts val="515"/>
              </a:spcBef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8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gates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事实</a:t>
            </a:r>
            <a:endParaRPr sz="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1295"/>
              </a:lnSpc>
              <a:spcBef>
                <a:spcPts val="365"/>
              </a:spcBef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8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override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填因。</a:t>
            </a:r>
            <a:endParaRPr sz="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09220" algn="l" rtl="0" eaLnBrk="0">
              <a:lnSpc>
                <a:spcPct val="100000"/>
              </a:lnSpc>
              <a:spcBef>
                <a:spcPts val="1515"/>
              </a:spcBef>
            </a:pPr>
            <a:r>
              <a:rPr sz="11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</a:t>
            </a:r>
            <a:r>
              <a:rPr sz="11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11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建议结论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80"/>
              </a:lnSpc>
              <a:spcBef>
                <a:spcPts val="0"/>
              </a:spcBef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决策/审批节点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70115" y="2542073"/>
            <a:ext cx="9005569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220"/>
              </a:lnSpc>
            </a:pP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产出：导入任务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lang="en-US"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</a:t>
            </a:r>
            <a:r>
              <a:rPr lang="en-US"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lang="zh-CN" altLang="en-US"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信息集合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产出：干净批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次快照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产出：机会候选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产出：优选机会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产出：可操作机会池</a:t>
            </a:r>
            <a:endParaRPr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1060411" y="647703"/>
            <a:ext cx="2451177" cy="349244"/>
            <a:chOff x="0" y="0"/>
            <a:chExt cx="2451177" cy="349244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451177" cy="349244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-12700" y="-12700"/>
              <a:ext cx="2477135" cy="403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39090" algn="l" rtl="0" eaLnBrk="0">
                <a:lnSpc>
                  <a:spcPct val="95000"/>
                </a:lnSpc>
                <a:spcBef>
                  <a:spcPts val="0"/>
                </a:spcBef>
              </a:pPr>
              <a:r>
                <a:rPr lang="en-US"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</a:t>
              </a:r>
              <a:r>
                <a:rPr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01</a:t>
              </a:r>
              <a:r>
                <a:rPr lang="en-US"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lang="zh-CN"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信息</a:t>
              </a:r>
              <a:r>
                <a:rPr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采集</a:t>
              </a:r>
              <a:endParaRPr sz="17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24" name="textbox 24"/>
          <p:cNvSpPr/>
          <p:nvPr/>
        </p:nvSpPr>
        <p:spPr>
          <a:xfrm>
            <a:off x="6013484" y="647703"/>
            <a:ext cx="2292350" cy="342900"/>
          </a:xfrm>
          <a:prstGeom prst="rect">
            <a:avLst/>
          </a:prstGeom>
          <a:solidFill>
            <a:srgbClr val="CAB18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1940" algn="l" rtl="0" eaLnBrk="0">
              <a:lnSpc>
                <a:spcPct val="98000"/>
              </a:lnSpc>
              <a:spcBef>
                <a:spcPts val="5"/>
              </a:spcBef>
            </a:pPr>
            <a:r>
              <a:rPr sz="1700" b="1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r>
              <a:rPr sz="1700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b="1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筛选与机会入库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6137021" y="3305828"/>
            <a:ext cx="1844039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03方案生成与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建议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406414" y="3293365"/>
            <a:ext cx="1327785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04审批与回流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753600" cy="6502400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30158" y="1304862"/>
          <a:ext cx="9002394" cy="982979"/>
        </p:xfrm>
        <a:graphic>
          <a:graphicData uri="http://schemas.openxmlformats.org/drawingml/2006/table">
            <a:tbl>
              <a:tblPr/>
              <a:tblGrid>
                <a:gridCol w="1310639"/>
                <a:gridCol w="1575435"/>
                <a:gridCol w="1633855"/>
                <a:gridCol w="1645285"/>
                <a:gridCol w="1553210"/>
                <a:gridCol w="1283969"/>
              </a:tblGrid>
              <a:tr h="271780">
                <a:tc gridSpan="3">
                  <a:txBody>
                    <a:bodyPr/>
                    <a:lstStyle/>
                    <a:p>
                      <a:pPr marL="78105" algn="l" rtl="0" eaLnBrk="0">
                        <a:lnSpc>
                          <a:spcPts val="1425"/>
                        </a:lnSpc>
                      </a:pPr>
                      <a:r>
                        <a:rPr lang="zh-CN"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爬虫程序</a:t>
                      </a: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触发</a:t>
                      </a: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 </a:t>
                      </a: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三信号采集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  </a:t>
                      </a:r>
                      <a:r>
                        <a:rPr lang="en-US"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</a:t>
                      </a:r>
                      <a:endParaRPr lang="en-US" sz="1100" b="1" kern="0" spc="-20" dirty="0">
                        <a:solidFill>
                          <a:srgbClr val="000000">
                            <a:alpha val="100000"/>
                          </a:srgbClr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7340" algn="l" rtl="0" eaLnBrk="0">
                        <a:lnSpc>
                          <a:spcPts val="1360"/>
                        </a:lnSpc>
                        <a:spcBef>
                          <a:spcPts val="0"/>
                        </a:spcBef>
                      </a:pPr>
                      <a:r>
                        <a:rPr sz="11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上新</a:t>
                      </a:r>
                      <a:r>
                        <a:rPr lang="en-US" sz="11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1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lang="en-US" sz="11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zh-CN" sz="11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流行款</a:t>
                      </a:r>
                      <a:endParaRPr sz="11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466090" algn="l" rtl="0" eaLnBrk="0">
                        <a:lnSpc>
                          <a:spcPts val="1585"/>
                        </a:lnSpc>
                      </a:pP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      </a:t>
                      </a:r>
                      <a:r>
                        <a:rPr lang="en-US"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   </a:t>
                      </a:r>
                      <a:r>
                        <a:rPr sz="1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机会池入库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ts val="965"/>
                        </a:lnSpc>
                        <a:spcBef>
                          <a:spcPts val="5"/>
                        </a:spcBef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·配置品类与站点名单</a:t>
                      </a:r>
                      <a:endParaRPr sz="7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ts val="860"/>
                        </a:lnSpc>
                        <a:spcBef>
                          <a:spcPts val="5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·设定</a:t>
                      </a:r>
                      <a:r>
                        <a:rPr lang="zh-CN"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爬虫规则</a:t>
                      </a:r>
                      <a:endParaRPr sz="7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6060" algn="l" rtl="0" eaLnBrk="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lang="zh-CN" altLang="en-US"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竞品网站</a:t>
                      </a:r>
                      <a:endParaRPr lang="zh-CN" altLang="en-US" sz="8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26060" algn="l" rtl="0" eaLnBrk="0">
                        <a:lnSpc>
                          <a:spcPts val="1070"/>
                        </a:lnSpc>
                        <a:spcBef>
                          <a:spcPts val="83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lang="en-US"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zh-CN" altLang="en-US"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社媒舆情</a:t>
                      </a:r>
                      <a:endParaRPr lang="zh-CN" altLang="en-US" sz="800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6060" algn="l" rtl="0" eaLnBrk="0">
                        <a:lnSpc>
                          <a:spcPts val="1070"/>
                        </a:lnSpc>
                        <a:spcBef>
                          <a:spcPts val="0"/>
                        </a:spcBef>
                      </a:pP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sz="800" kern="0" spc="-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lang="en-US"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Az</a:t>
                      </a: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历史相似款销量查询。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4475" algn="l" rtl="0" eaLnBrk="0">
                        <a:lnSpc>
                          <a:spcPts val="1080"/>
                        </a:lnSpc>
                        <a:spcBef>
                          <a:spcPts val="5"/>
                        </a:spcBef>
                      </a:pPr>
                      <a:r>
                        <a:rPr lang="en-US" sz="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endParaRPr lang="en-US" sz="800" kern="0" spc="-50" dirty="0">
                        <a:solidFill>
                          <a:srgbClr val="000000">
                            <a:alpha val="100000"/>
                          </a:srgbClr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6070" algn="l" rtl="0" eaLnBrk="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·上新类型过滤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306070" algn="l" rtl="0" eaLnBrk="0">
                        <a:lnSpc>
                          <a:spcPts val="1295"/>
                        </a:lnSpc>
                        <a:spcBef>
                          <a:spcPts val="590"/>
                        </a:spcBef>
                      </a:pP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list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_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rank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排序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6070" algn="l" rtl="0" eaLnBrk="0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·sales/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rece</a:t>
                      </a: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ncy</a:t>
                      </a: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分池。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8285" algn="l" rtl="0" eaLnBrk="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175" algn="l" rtl="0" eaLnBrk="0">
                        <a:lnSpc>
                          <a:spcPts val="1075"/>
                        </a:lnSpc>
                        <a:spcBef>
                          <a:spcPts val="5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·写入机会表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r" rtl="0" eaLnBrk="0">
                        <a:lnSpc>
                          <a:spcPts val="1295"/>
                        </a:lnSpc>
                        <a:spcBef>
                          <a:spcPts val="61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·挂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snapshot_row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证据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175" algn="l" rtl="0" eaLnBrk="0">
                        <a:lnSpc>
                          <a:spcPts val="860"/>
                        </a:lnSpc>
                        <a:spcBef>
                          <a:spcPts val="5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lang="zh-CN"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机会</a:t>
                      </a:r>
                      <a:r>
                        <a:rPr lang="en-US" altLang="zh-CN"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id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。</a:t>
                      </a:r>
                      <a:endParaRPr sz="7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box 6"/>
          <p:cNvSpPr/>
          <p:nvPr/>
        </p:nvSpPr>
        <p:spPr>
          <a:xfrm>
            <a:off x="395593" y="5077911"/>
            <a:ext cx="3013710" cy="1109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25"/>
              </a:lnSpc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产出：选款提案+指标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</a:t>
            </a:r>
            <a:r>
              <a:rPr lang="zh-CN" sz="12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负责人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审批结果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71295" algn="l" rtl="0" eaLnBrk="0">
              <a:lnSpc>
                <a:spcPts val="1605"/>
              </a:lnSpc>
              <a:spcBef>
                <a:spcPts val="0"/>
              </a:spcBef>
            </a:pP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处理节点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136005" y="5101590"/>
            <a:ext cx="3474720" cy="1087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300"/>
              </a:lnSpc>
            </a:pP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产出：定价</a:t>
            </a:r>
            <a:r>
              <a:rPr lang="zh-CN"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建议</a:t>
            </a: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+可生产</a:t>
            </a:r>
            <a:r>
              <a:rPr lang="zh-CN"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</a:t>
            </a: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产出：方</a:t>
            </a:r>
            <a:r>
              <a:rPr sz="10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案草稿</a:t>
            </a:r>
            <a:endParaRPr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0" algn="l" rtl="0" eaLnBrk="0">
              <a:lnSpc>
                <a:spcPct val="96000"/>
              </a:lnSpc>
              <a:spcBef>
                <a:spcPts val="5"/>
              </a:spcBef>
            </a:pPr>
            <a:r>
              <a:rPr sz="13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产出/结果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330200" y="3857625"/>
          <a:ext cx="3293110" cy="1063625"/>
        </p:xfrm>
        <a:graphic>
          <a:graphicData uri="http://schemas.openxmlformats.org/drawingml/2006/table">
            <a:tbl>
              <a:tblPr/>
              <a:tblGrid>
                <a:gridCol w="1828165"/>
                <a:gridCol w="1464945"/>
              </a:tblGrid>
              <a:tr h="955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105" algn="l" rtl="0" eaLnBrk="0">
                        <a:lnSpc>
                          <a:spcPts val="1475"/>
                        </a:lnSpc>
                      </a:pPr>
                      <a:r>
                        <a:rPr sz="1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写入选款与指标回流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ts val="1295"/>
                        </a:lnSpc>
                        <a:spcBef>
                          <a:spcPts val="1015"/>
                        </a:spcBef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sz="9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同步选款提案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system_hub_at</a:t>
                      </a: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9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·成稿时长统计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·上架后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GMV</a:t>
                      </a:r>
                      <a:r>
                        <a:rPr sz="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可关联。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35305" algn="l" rtl="0" eaLnBrk="0">
                        <a:lnSpc>
                          <a:spcPts val="1475"/>
                        </a:lnSpc>
                      </a:pPr>
                      <a:r>
                        <a:rPr sz="1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负责人审批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60350" algn="l" rtl="0" eaLnBrk="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·通过/驳回</a:t>
                      </a:r>
                      <a:r>
                        <a:rPr lang="zh-CN"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，记录</a:t>
                      </a:r>
                      <a:r>
                        <a:rPr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原因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035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·高亮风险与库存</a:t>
                      </a:r>
                      <a:r>
                        <a:rPr lang="zh-CN"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信息供参考</a:t>
                      </a: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146816" y="3864543"/>
          <a:ext cx="3009265" cy="948689"/>
        </p:xfrm>
        <a:graphic>
          <a:graphicData uri="http://schemas.openxmlformats.org/drawingml/2006/table">
            <a:tbl>
              <a:tblPr/>
              <a:tblGrid>
                <a:gridCol w="1501775"/>
                <a:gridCol w="1507489"/>
              </a:tblGrid>
              <a:tr h="948689">
                <a:tc>
                  <a:txBody>
                    <a:bodyPr/>
                    <a:lstStyle/>
                    <a:p>
                      <a:pPr marL="154305" algn="l" rtl="0" eaLnBrk="0">
                        <a:lnSpc>
                          <a:spcPts val="1480"/>
                        </a:lnSpc>
                      </a:pPr>
                      <a:r>
                        <a:rPr sz="12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成本与可生产性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ts val="1085"/>
                        </a:lnSpc>
                        <a:spcBef>
                          <a:spcPts val="1175"/>
                        </a:spcBef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sz="9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BOM</a:t>
                      </a:r>
                      <a:r>
                        <a:rPr lang="en-US"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与竞品价带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ts val="1085"/>
                        </a:lnSpc>
                        <a:spcBef>
                          <a:spcPts val="865"/>
                        </a:spcBef>
                      </a:pPr>
                      <a:r>
                        <a:rPr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</a:t>
                      </a:r>
                      <a:r>
                        <a:rPr lang="zh-CN"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自动查询</a:t>
                      </a:r>
                      <a:r>
                        <a:rPr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库存</a:t>
                      </a:r>
                      <a:r>
                        <a:rPr lang="zh-CN"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数据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·标记有无成本优势。</a:t>
                      </a:r>
                      <a:endParaRPr sz="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575"/>
                        </a:lnSpc>
                      </a:pPr>
                      <a:r>
                        <a:rPr sz="1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选品方案草稿</a:t>
                      </a:r>
                      <a:endParaRPr sz="1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492125" indent="-107950" algn="l" rtl="0" eaLnBrk="0">
                        <a:lnSpc>
                          <a:spcPct val="129000"/>
                        </a:lnSpc>
                        <a:spcBef>
                          <a:spcPts val="1225"/>
                        </a:spcBef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·参考款/改款点/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面料廓形颜色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417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·现货或</a:t>
                      </a: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MTO</a:t>
                      </a: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意向。</a:t>
                      </a:r>
                      <a:endParaRPr sz="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textbox 14"/>
          <p:cNvSpPr/>
          <p:nvPr/>
        </p:nvSpPr>
        <p:spPr>
          <a:xfrm>
            <a:off x="2195820" y="33109"/>
            <a:ext cx="5463540" cy="534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005"/>
              </a:lnSpc>
            </a:pP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智能选品</a:t>
            </a: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MVP|AT</a:t>
            </a:r>
            <a:r>
              <a:rPr sz="2800" b="1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品类端到端流程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4244975" y="3839210"/>
            <a:ext cx="1489710" cy="2343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0365" algn="l" rtl="0" eaLnBrk="0">
              <a:lnSpc>
                <a:spcPct val="96000"/>
              </a:lnSpc>
            </a:pPr>
            <a:r>
              <a:rPr sz="14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lang="zh-CN" sz="14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审核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6365" indent="-112395" algn="l" rtl="0" eaLnBrk="0">
              <a:lnSpc>
                <a:spcPct val="114000"/>
              </a:lnSpc>
              <a:spcBef>
                <a:spcPts val="980"/>
              </a:spcBef>
            </a:pPr>
            <a:r>
              <a:rPr sz="9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kern="0" spc="-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建议推/谨慎/</a:t>
            </a:r>
            <a:r>
              <a:rPr sz="1000" b="1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MTO/</a:t>
            </a:r>
            <a:r>
              <a:rPr sz="10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不建议</a:t>
            </a:r>
            <a:endParaRPr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1015"/>
              </a:lnSpc>
              <a:spcBef>
                <a:spcPts val="515"/>
              </a:spcBef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8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gates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事实</a:t>
            </a:r>
            <a:endParaRPr sz="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1295"/>
              </a:lnSpc>
              <a:spcBef>
                <a:spcPts val="365"/>
              </a:spcBef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8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阐述审核</a:t>
            </a:r>
            <a:r>
              <a:rPr lang="zh-CN"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建议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800" kern="0" spc="1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1295"/>
              </a:lnSpc>
              <a:spcBef>
                <a:spcPts val="365"/>
              </a:spcBef>
            </a:pPr>
            <a:endParaRPr sz="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09220" algn="l" rtl="0" eaLnBrk="0">
              <a:lnSpc>
                <a:spcPct val="100000"/>
              </a:lnSpc>
              <a:spcBef>
                <a:spcPts val="1515"/>
              </a:spcBef>
            </a:pPr>
            <a:r>
              <a:rPr sz="11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</a:t>
            </a:r>
            <a:r>
              <a:rPr sz="11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lang="zh-CN" sz="11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审核</a:t>
            </a:r>
            <a:r>
              <a:rPr sz="11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建议结论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80"/>
              </a:lnSpc>
              <a:spcBef>
                <a:spcPts val="0"/>
              </a:spcBef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决策/审批节点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70115" y="2542073"/>
            <a:ext cx="9005569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220"/>
              </a:lnSpc>
            </a:pP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产出：导入任务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lang="en-US"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</a:t>
            </a:r>
            <a:r>
              <a:rPr lang="en-US"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lang="zh-CN" altLang="en-US"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信息集合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</a:t>
            </a:r>
            <a:r>
              <a:rPr lang="en-US" sz="1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产出：机会候选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</a:t>
            </a:r>
            <a:r>
              <a:rPr lang="en-US" sz="1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产出：可</a:t>
            </a:r>
            <a:r>
              <a:rPr lang="zh-CN"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增删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机会池</a:t>
            </a:r>
            <a:endParaRPr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1060411" y="647703"/>
            <a:ext cx="2451177" cy="349244"/>
            <a:chOff x="0" y="0"/>
            <a:chExt cx="2451177" cy="349244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451177" cy="349244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-12700" y="-12700"/>
              <a:ext cx="2477135" cy="403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39090" algn="l" rtl="0" eaLnBrk="0">
                <a:lnSpc>
                  <a:spcPct val="95000"/>
                </a:lnSpc>
                <a:spcBef>
                  <a:spcPts val="0"/>
                </a:spcBef>
              </a:pPr>
              <a:r>
                <a:rPr lang="en-US"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</a:t>
              </a:r>
              <a:r>
                <a:rPr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01</a:t>
              </a:r>
              <a:r>
                <a:rPr lang="en-US"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lang="zh-CN"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信息</a:t>
              </a:r>
              <a:r>
                <a:rPr sz="1700" b="1" kern="0" spc="-10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采集</a:t>
              </a:r>
              <a:endParaRPr sz="17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24" name="textbox 24"/>
          <p:cNvSpPr/>
          <p:nvPr/>
        </p:nvSpPr>
        <p:spPr>
          <a:xfrm>
            <a:off x="6013484" y="647703"/>
            <a:ext cx="2292350" cy="342900"/>
          </a:xfrm>
          <a:prstGeom prst="rect">
            <a:avLst/>
          </a:prstGeom>
          <a:solidFill>
            <a:srgbClr val="CAB18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1940" algn="l" rtl="0" eaLnBrk="0">
              <a:lnSpc>
                <a:spcPct val="98000"/>
              </a:lnSpc>
              <a:spcBef>
                <a:spcPts val="5"/>
              </a:spcBef>
            </a:pPr>
            <a:r>
              <a:rPr lang="en-US" sz="1700" b="1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b="1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r>
              <a:rPr sz="1700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1700" b="1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找款与方案</a:t>
            </a:r>
            <a:r>
              <a:rPr lang="zh-CN" sz="1700" b="1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生成</a:t>
            </a:r>
            <a:endParaRPr lang="zh-CN" sz="1700" b="1" kern="0" spc="-14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6137021" y="3305828"/>
            <a:ext cx="1844039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r>
              <a:rPr lang="en-US" sz="1600" b="1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r>
              <a:rPr lang="en-US" sz="1600" b="1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lang="zh-CN" sz="1600" b="1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审核</a:t>
            </a:r>
            <a:endParaRPr lang="zh-CN" sz="1600" b="1" kern="0" spc="-2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406414" y="3293365"/>
            <a:ext cx="1327785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04审批与回流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665" y="1120140"/>
            <a:ext cx="1449070" cy="17157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140" y="1174750"/>
            <a:ext cx="1428750" cy="1616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0" y="3510915"/>
            <a:ext cx="1805305" cy="1943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9450" y="1038225"/>
            <a:ext cx="1657985" cy="1943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1574</Words>
  <Application>WPS 演示</Application>
  <PresentationFormat/>
  <Paragraphs>202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黑体</vt:lpstr>
      <vt:lpstr>Arial</vt:lpstr>
      <vt:lpstr>MS Gothic</vt:lpstr>
      <vt:lpstr>微软雅黑</vt:lpstr>
      <vt:lpstr>Arial Unicode MS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苗诗雨</cp:lastModifiedBy>
  <cp:revision>1</cp:revision>
  <dcterms:created xsi:type="dcterms:W3CDTF">2026-07-27T03:56:05Z</dcterms:created>
  <dcterms:modified xsi:type="dcterms:W3CDTF">2026-07-27T03:56:05Z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2026-07-24T10:59:03Z</vt:filetime>
  </property>
  <property fmtid="{D5CDD505-2E9C-101B-9397-08002B2CF9AE}" pid="4" name="UsrData">
    <vt:lpwstr>6a62d4f40ce36e001f1ef13fwl</vt:lpwstr>
  </property>
  <property fmtid="{D5CDD505-2E9C-101B-9397-08002B2CF9AE}" pid="5" name="KSOProductBuildVer">
    <vt:lpwstr>2052-12.1.0.26899</vt:lpwstr>
  </property>
  <property fmtid="{D5CDD505-2E9C-101B-9397-08002B2CF9AE}" pid="6" name="ICV">
    <vt:lpwstr>A12B51EE3AA04B92A2A948A9E32661EA_12</vt:lpwstr>
  </property>
</Properties>
</file>